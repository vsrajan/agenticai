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Access Governance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  <a:latin typeface="Calibri"/>
              </a:defRPr>
            </a:pPr>
            <a:r>
              <a:t>LangGraph multi-agent system with MCP tool server for documentation search, resource discovery, and entitlement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E0E0E0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User</a:t>
            </a:r>
            <a:br/>
            <a:r>
              <a:t>(CLI / Chat)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68880" y="2880360"/>
            <a:ext cx="822960" cy="4572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3840480" cy="4114800"/>
          </a:xfrm>
          <a:prstGeom prst="roundRect">
            <a:avLst>
              <a:gd name="adj" fmla="val 5000"/>
            </a:avLst>
          </a:prstGeom>
          <a:solidFill>
            <a:srgbClr val="D6E4F0"/>
          </a:solidFill>
          <a:ln w="254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56616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Agent Client (LangGraph)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201168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BBDEFB"/>
          </a:solidFill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Router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92608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Knowledgebase</a:t>
            </a:r>
            <a:br/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92608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5C00"/>
                </a:solidFill>
                <a:latin typeface="Calibri"/>
              </a:defRPr>
            </a:pPr>
            <a:r>
              <a:t>Resource</a:t>
            </a:r>
            <a:br/>
            <a: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84048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A1B9A"/>
                </a:solidFill>
                <a:latin typeface="Calibri"/>
              </a:defRPr>
            </a:pPr>
            <a:r>
              <a:t>Handoff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572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State: messages[] + active_agent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06640" y="2880360"/>
            <a:ext cx="914400" cy="457200"/>
          </a:xfrm>
          <a:prstGeom prst="rightArrow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383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96B"/>
                </a:solidFill>
                <a:latin typeface="Calibri"/>
              </a:defRPr>
            </a:pPr>
            <a:r>
              <a:t>MCP</a:t>
            </a:r>
            <a:br/>
            <a:r>
              <a:t>protocol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37160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 w="2540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59536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96B"/>
                </a:solidFill>
                <a:latin typeface="Calibri"/>
              </a:defRPr>
            </a:pPr>
            <a:r>
              <a:t>MCP Server (FastMCP)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10312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E7D32"/>
                </a:solidFill>
                <a:latin typeface="Calibri"/>
              </a:defRPr>
            </a:pPr>
            <a:r>
              <a:t>Knowledgebase Tools</a:t>
            </a:r>
            <a:br/>
            <a:r>
              <a:t>list_topics  |  search_docs  |  read_page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9260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65C00"/>
                </a:solidFill>
                <a:latin typeface="Calibri"/>
              </a:defRPr>
            </a:pPr>
            <a:r>
              <a:t>Resource Tools</a:t>
            </a:r>
            <a:br/>
            <a:r>
              <a:t>list_datasets | search_dataset</a:t>
            </a:r>
            <a:br/>
            <a:r>
              <a:t>filter_dataset | filter_dataset_fuzzy</a:t>
            </a:r>
            <a:br/>
            <a:r>
              <a:t>count_by_column | get_column_values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402336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6A1B9A"/>
                </a:solidFill>
                <a:latin typeface="Calibri"/>
              </a:defRPr>
            </a:pPr>
            <a:r>
              <a:t>Request Tools</a:t>
            </a:r>
            <a:br/>
            <a:r>
              <a:t>get_request_attributes | raise_entitlement_request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846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Data: PDF docs (BM25 index) | CSV datasets | request_config.json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5760720"/>
            <a:ext cx="2926080" cy="73152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B579A"/>
                </a:solidFill>
                <a:latin typeface="Calibri"/>
              </a:defRPr>
            </a:pPr>
            <a:r>
              <a:t>Azure OpenAI (GPT-4o)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212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LLM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MCP Server — Tool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53035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96B"/>
                </a:solidFill>
                <a:latin typeface="Calibri"/>
              </a:defRPr>
            </a:pPr>
            <a:r>
              <a:t>MCP Server  (FastMCP + SSE/stdio)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Knowledgebase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292608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  <a:latin typeface="Consolas"/>
              </a:defRPr>
            </a:pPr>
            <a:r>
              <a:t>list_topics()</a:t>
            </a:r>
          </a:p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Return all indexed topic names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292608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  <a:latin typeface="Consolas"/>
              </a:defRPr>
            </a:pPr>
            <a:r>
              <a:t>search_docs(query, topic?)</a:t>
            </a:r>
          </a:p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BM25 search across PDF pages;</a:t>
            </a:r>
            <a:br/>
            <a:r>
              <a:t>returns ranked snippets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49040"/>
            <a:ext cx="292608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  <a:latin typeface="Consolas"/>
              </a:defRPr>
            </a:pPr>
            <a:r>
              <a:t>read_page(topic, page)</a:t>
            </a:r>
          </a:p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Read full text of a specific</a:t>
            </a:r>
            <a:br/>
            <a:r>
              <a:t>PDF page by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5488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C8E6C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DocIndex  (PDF → BM25 per-page index)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657600" cy="3749039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C00"/>
                </a:solidFill>
                <a:latin typeface="Calibri"/>
              </a:defRPr>
            </a:pPr>
            <a:r>
              <a:t>Resource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377440"/>
            <a:ext cx="32918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  <a:latin typeface="Consolas"/>
              </a:defRPr>
            </a:pPr>
            <a:r>
              <a:t>list_datasets()</a:t>
            </a:r>
          </a:p>
          <a:p>
            <a:pPr>
              <a:defRPr sz="800">
                <a:solidFill>
                  <a:srgbClr val="666666"/>
                </a:solidFill>
                <a:latin typeface="Calibri"/>
              </a:defRPr>
            </a:pPr>
            <a:r>
              <a:t>List available CSV dataset names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907792"/>
            <a:ext cx="32918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  <a:latin typeface="Consolas"/>
              </a:defRPr>
            </a:pPr>
            <a:r>
              <a:t>search_dataset(dataset, query)</a:t>
            </a:r>
          </a:p>
          <a:p>
            <a:pPr>
              <a:defRPr sz="800">
                <a:solidFill>
                  <a:srgbClr val="666666"/>
                </a:solidFill>
                <a:latin typeface="Calibri"/>
              </a:defRPr>
            </a:pPr>
            <a:r>
              <a:t>Keyword search across all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438144"/>
            <a:ext cx="32918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  <a:latin typeface="Consolas"/>
              </a:defRPr>
            </a:pPr>
            <a:r>
              <a:t>filter_dataset(dataset, col, val)</a:t>
            </a:r>
          </a:p>
          <a:p>
            <a:pPr>
              <a:defRPr sz="800">
                <a:solidFill>
                  <a:srgbClr val="666666"/>
                </a:solidFill>
                <a:latin typeface="Calibri"/>
              </a:defRPr>
            </a:pPr>
            <a:r>
              <a:t>Exact-match filter on a column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968495"/>
            <a:ext cx="32918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  <a:latin typeface="Consolas"/>
              </a:defRPr>
            </a:pPr>
            <a:r>
              <a:t>filter_dataset_fuzzy(dataset, col, val, thresh?)</a:t>
            </a:r>
          </a:p>
          <a:p>
            <a:pPr>
              <a:defRPr sz="800">
                <a:solidFill>
                  <a:srgbClr val="666666"/>
                </a:solidFill>
                <a:latin typeface="Calibri"/>
              </a:defRPr>
            </a:pPr>
            <a:r>
              <a:t>Fuzzy filter (Levenshtein distance)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498848"/>
            <a:ext cx="32918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  <a:latin typeface="Consolas"/>
              </a:defRPr>
            </a:pPr>
            <a:r>
              <a:t>count_by_column(dataset, col)</a:t>
            </a:r>
          </a:p>
          <a:p>
            <a:pPr>
              <a:defRPr sz="800">
                <a:solidFill>
                  <a:srgbClr val="666666"/>
                </a:solidFill>
                <a:latin typeface="Calibri"/>
              </a:defRPr>
            </a:pPr>
            <a:r>
              <a:t>Value frequency 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5029200"/>
            <a:ext cx="32918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  <a:latin typeface="Consolas"/>
              </a:defRPr>
            </a:pPr>
            <a:r>
              <a:t>get_column_values(dataset, col, n?)</a:t>
            </a:r>
          </a:p>
          <a:p>
            <a:pPr>
              <a:defRPr sz="800">
                <a:solidFill>
                  <a:srgbClr val="666666"/>
                </a:solidFill>
                <a:latin typeface="Calibri"/>
              </a:defRPr>
            </a:pPr>
            <a:r>
              <a:t>Unique values in a column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5212080"/>
            <a:ext cx="3291840" cy="457200"/>
          </a:xfrm>
          <a:prstGeom prst="roundRect">
            <a:avLst>
              <a:gd name="adj" fmla="val 5000"/>
            </a:avLst>
          </a:prstGeom>
          <a:solidFill>
            <a:srgbClr val="FFE0B2"/>
          </a:solidFill>
          <a:ln w="9525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65C00"/>
                </a:solidFill>
                <a:latin typeface="Calibri"/>
              </a:defRPr>
            </a:pPr>
            <a:r>
              <a:t>CsvStore  (in-memory DataFrame per CSV)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920240"/>
            <a:ext cx="3200400" cy="256032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32104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A1B9A"/>
                </a:solidFill>
                <a:latin typeface="Calibri"/>
              </a:defRPr>
            </a:pPr>
            <a:r>
              <a:t>Request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377440"/>
            <a:ext cx="28346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  <a:latin typeface="Consolas"/>
              </a:defRPr>
            </a:pPr>
            <a:r>
              <a:t>get_request_attributes()</a:t>
            </a:r>
          </a:p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Return required and optional</a:t>
            </a:r>
            <a:br/>
            <a:r>
              <a:t>fields for a request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200400"/>
            <a:ext cx="28346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  <a:latin typeface="Consolas"/>
              </a:defRPr>
            </a:pPr>
            <a:r>
              <a:t>raise_entitlement_request(**kw)</a:t>
            </a:r>
          </a:p>
          <a:p>
            <a:pPr>
              <a:defRPr sz="900">
                <a:solidFill>
                  <a:srgbClr val="666666"/>
                </a:solidFill>
                <a:latin typeface="Calibri"/>
              </a:defRPr>
            </a:pPr>
            <a:r>
              <a:t>Submit an entitlement</a:t>
            </a:r>
            <a:br/>
            <a:r>
              <a:t>access request (placeholder)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754880"/>
            <a:ext cx="2834640" cy="548640"/>
          </a:xfrm>
          <a:prstGeom prst="roundRect">
            <a:avLst>
              <a:gd name="adj" fmla="val 5000"/>
            </a:avLst>
          </a:prstGeom>
          <a:solidFill>
            <a:srgbClr val="E1BEE7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6A1B9A"/>
                </a:solidFill>
                <a:latin typeface="Calibri"/>
              </a:defRPr>
            </a:pPr>
            <a:r>
              <a:t>request_config.json</a:t>
            </a:r>
            <a:br/>
            <a:r>
              <a:t>(dynamic param schema)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Agent Graph — LangGraph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377440"/>
            <a:ext cx="1097280" cy="640080"/>
          </a:xfrm>
          <a:prstGeom prst="roundRect">
            <a:avLst>
              <a:gd name="adj" fmla="val 5000"/>
            </a:avLst>
          </a:prstGeom>
          <a:solidFill>
            <a:srgbClr val="1A365D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45920" y="2487168"/>
            <a:ext cx="640080" cy="32004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77440" y="2011680"/>
            <a:ext cx="1828800" cy="1188720"/>
          </a:xfrm>
          <a:prstGeom prst="roundRect">
            <a:avLst>
              <a:gd name="adj" fmla="val 5000"/>
            </a:avLst>
          </a:prstGeom>
          <a:solidFill>
            <a:srgbClr val="FDF0D5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5C00"/>
                </a:solidFill>
                <a:latin typeface="Consolas"/>
              </a:defRPr>
            </a:pPr>
            <a:r>
              <a:t>route_entry()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Resume active</a:t>
            </a:r>
            <a:br/>
            <a:r>
              <a:t>specialist or</a:t>
            </a:r>
            <a:br/>
            <a:r>
              <a:t>go to router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97680" y="2487168"/>
            <a:ext cx="640080" cy="32004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0" y="21031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BBDEFB"/>
          </a:solidFill>
          <a:ln w="254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Router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LLM decides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5C00"/>
                </a:solidFill>
                <a:latin typeface="Consolas"/>
              </a:defRPr>
            </a:pPr>
            <a:r>
              <a:t>route_from_router()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93192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D32"/>
                </a:solidFill>
                <a:latin typeface="Consolas"/>
              </a:defRPr>
            </a:pPr>
            <a:r>
              <a:t>knowledgebase_agent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Doc search specialist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52120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7D32"/>
                </a:solidFill>
                <a:latin typeface="Consolas"/>
              </a:defRPr>
            </a:pPr>
            <a:r>
              <a:t>knowledgebase_tools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list_topics | search_docs</a:t>
            </a:r>
            <a:br/>
            <a:r>
              <a:t>read_page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tool calls</a:t>
            </a:r>
            <a:br/>
            <a:r>
              <a:t>↕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93192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5C00"/>
                </a:solidFill>
                <a:latin typeface="Consolas"/>
              </a:defRPr>
            </a:pPr>
            <a:r>
              <a:t>resource_agent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Data lookup specialist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521208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5C00"/>
                </a:solidFill>
                <a:latin typeface="Consolas"/>
              </a:defRPr>
            </a:pPr>
            <a:r>
              <a:t>resource_tools</a:t>
            </a:r>
          </a:p>
          <a:p>
            <a:pPr algn="ctr">
              <a:defRPr sz="800">
                <a:solidFill>
                  <a:srgbClr val="666666"/>
                </a:solidFill>
              </a:defRPr>
            </a:pPr>
            <a:r>
              <a:t>filter_dataset | search_dataset</a:t>
            </a:r>
            <a:br/>
            <a:r>
              <a:t>count_by_column | + 5 more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65C00"/>
                </a:solidFill>
                <a:latin typeface="Calibri"/>
              </a:defRPr>
            </a:pPr>
            <a:r>
              <a:t>tool calls</a:t>
            </a:r>
            <a:br/>
            <a:r>
              <a:t>↕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521208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A1B9A"/>
                </a:solidFill>
                <a:latin typeface="Consolas"/>
              </a:defRPr>
            </a:pPr>
            <a:r>
              <a:t>handoff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Clears active_agent</a:t>
            </a:r>
            <a:br/>
            <a:r>
              <a:t>→ back to Router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097280"/>
            <a:ext cx="1371600" cy="54864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09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Direct answer</a:t>
            </a:r>
            <a:br/>
            <a:r>
              <a:t>(greeting / chat)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6217920"/>
            <a:ext cx="1097280" cy="45720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Specialist final answer (no tool calls)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Conditional Edges: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route_entry():  active_agent set → resume specialist  |  empty → router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route_from_router():  route_to_knowledgebase → knowledgebase_agent  |  route_to_resource → resource_agent  |  no tool call → END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specialist_edge():  has domain tool calls → tool_node  |  hand_off_to_router only → handoff  |  no tool calls →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Tool Bindings — Node Detail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2B579A"/>
          </a:solidFill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4389120" cy="457200"/>
          </a:xfrm>
          <a:prstGeom prst="roundRect">
            <a:avLst>
              <a:gd name="adj" fmla="val 5000"/>
            </a:avLst>
          </a:prstGeom>
          <a:solidFill>
            <a:srgbClr val="2B579A"/>
          </a:solidFill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Bound Tools (MCP)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657600" cy="457200"/>
          </a:xfrm>
          <a:prstGeom prst="roundRect">
            <a:avLst>
              <a:gd name="adj" fmla="val 5000"/>
            </a:avLst>
          </a:prstGeom>
          <a:solidFill>
            <a:srgbClr val="2B579A"/>
          </a:solidFill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2560320" cy="1005840"/>
          </a:xfrm>
          <a:prstGeom prst="roundRect">
            <a:avLst>
              <a:gd name="adj" fmla="val 5000"/>
            </a:avLst>
          </a:prstGeom>
          <a:solidFill>
            <a:srgbClr val="D6E4F0"/>
          </a:solidFill>
          <a:ln w="127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B579A"/>
                </a:solidFill>
                <a:latin typeface="Consolas"/>
              </a:defRPr>
            </a:pPr>
            <a:r>
              <a:t>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91640"/>
            <a:ext cx="43891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  <a:latin typeface="Consolas"/>
              </a:defRPr>
            </a:pPr>
            <a:r>
              <a:t>route_to_knowledgebase(reason)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route_to_resource(reason)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000" i="1">
                <a:solidFill>
                  <a:srgbClr val="666666"/>
                </a:solidFill>
                <a:latin typeface="Consolas"/>
              </a:defRPr>
            </a:pPr>
            <a:r>
              <a:t>(Internal routing tools — not MCP)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91640"/>
            <a:ext cx="36576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Analyzes user intent and routes to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the correct specialist agent.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Can answer directly for greetings.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7D32"/>
                </a:solidFill>
                <a:latin typeface="Consolas"/>
              </a:defRPr>
            </a:pPr>
            <a:r>
              <a:t>knowledgebase_tools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788920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  <a:latin typeface="Consolas"/>
              </a:defRPr>
            </a:pPr>
            <a:r>
              <a:t>list_topics()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search_docs(query, topic?)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read_page(topic, page)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hand_off_to_router(reason)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78892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Executes documentation search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tools from the MCP server.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Searches BM25-indexed PDF pages.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4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5C00"/>
                </a:solidFill>
                <a:latin typeface="Consolas"/>
              </a:defRPr>
            </a:pPr>
            <a:r>
              <a:t>resource_tools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977640"/>
            <a:ext cx="438912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  <a:latin typeface="Consolas"/>
              </a:defRPr>
            </a:pPr>
            <a:r>
              <a:t>list_datasets()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search_dataset(dataset, query)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filter_dataset(dataset, col, value)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filter_dataset_fuzzy(dataset, col, value, thresh?)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count_by_column(dataset, col)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get_column_values(dataset, col, n?)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get_request_attributes()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raise_entitlement_request(**kwargs)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hand_off_to_router(reason)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977640"/>
            <a:ext cx="365760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Executes data lookup and request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tools from the MCP server.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Queries in-memory CSV DataFrames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and manages entitlement requests.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893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A1B9A"/>
                </a:solidFill>
                <a:latin typeface="Consolas"/>
              </a:defRPr>
            </a:pPr>
            <a:r>
              <a:t>handoff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5989320"/>
            <a:ext cx="4389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i="1">
                <a:solidFill>
                  <a:srgbClr val="666666"/>
                </a:solidFill>
                <a:latin typeface="Consolas"/>
              </a:defRPr>
            </a:pPr>
            <a:r>
              <a:t>(processes hand_off_to_router calls)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598932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Clears active_agent state and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returns control to the Router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for re-routing to another specialist.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